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61111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 da Plataforma de Dados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058400" y="66111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Databricks + GCP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mais acessíveis para mais pessoas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 plataforma deve reduzir a distância entre o usuário e o dado.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2743200" cy="3886200"/>
          </a:xfrm>
          <a:prstGeom prst="roundRect">
            <a:avLst>
              <a:gd name="adj" fmla="val 2667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Canais de consumo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2240280"/>
            <a:ext cx="475488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3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331720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63D6"/>
                </a:solidFill>
              </a:rPr>
              <a:t>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322576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2770632"/>
            <a:ext cx="475488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3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862072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63D6"/>
                </a:solidFill>
              </a:rPr>
              <a:t>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3300984"/>
            <a:ext cx="475488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3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392424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63D6"/>
                </a:solidFill>
              </a:rPr>
              <a:t>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3831336"/>
            <a:ext cx="475488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3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3922776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63D6"/>
                </a:solidFill>
              </a:rPr>
              <a:t>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83080" y="3913632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Genie 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4361688"/>
            <a:ext cx="475488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3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445312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63D6"/>
                </a:solidFill>
              </a:rPr>
              <a:t>⌨️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83080" y="4443984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/ Notebooks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600200"/>
            <a:ext cx="3063240" cy="36118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F0B8B8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de Dados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892040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Databricks Lakehouse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Catalog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+ IA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11880" y="3429000"/>
            <a:ext cx="9601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3429000"/>
            <a:ext cx="15544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89720" y="1508760"/>
            <a:ext cx="2057400" cy="3886200"/>
          </a:xfrm>
          <a:prstGeom prst="roundRect">
            <a:avLst>
              <a:gd name="adj" fmla="val 3556"/>
            </a:avLst>
          </a:prstGeom>
          <a:solidFill>
            <a:srgbClr val="EEF8F0"/>
          </a:solidFill>
          <a:ln w="12700">
            <a:solidFill>
              <a:srgbClr val="BFE8C7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00032" y="1737360"/>
            <a:ext cx="1691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64040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29800" y="2322576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autonomia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64040" y="2971800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29800" y="2962656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dependência técnica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64040" y="3611880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29800" y="3602736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Acesso no fluxo de trabalho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64040" y="4251960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29800" y="4242816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preservada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6236208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plataforma deve se adaptar ao usuário — não o contrário.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jornada mais simples, da descoberta ao consumo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 experiência completa é tão importante quanto a tecnologia de armazenamento e processamento.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139696"/>
            <a:ext cx="1353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dado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59152" y="2404872"/>
            <a:ext cx="429768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8288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62656" y="2139696"/>
            <a:ext cx="1353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62272" y="2404872"/>
            <a:ext cx="429768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18288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65776" y="2139696"/>
            <a:ext cx="1353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65392" y="2404872"/>
            <a:ext cx="429768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18288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68896" y="2139696"/>
            <a:ext cx="1353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68512" y="2404872"/>
            <a:ext cx="429768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8288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EEF8F0"/>
          </a:solidFill>
          <a:ln w="12700">
            <a:solidFill>
              <a:srgbClr val="BFE8C7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72016" y="2139696"/>
            <a:ext cx="1353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3977640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lacuna a endereçar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77240" y="4434840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FF1F0"/>
          </a:solidFill>
          <a:ln w="12700">
            <a:solidFill>
              <a:srgbClr val="F4B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636008"/>
            <a:ext cx="9784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jornada corporativa integrada para solicitação, aprovação, provisionamento e revisão de acessos.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concretos em pouco tempo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 fundação já começou a gerar visibilidade, controle e velocidade.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1709928"/>
            <a:ext cx="475488" cy="475488"/>
          </a:xfrm>
          <a:prstGeom prst="ellipse">
            <a:avLst/>
          </a:prstGeom>
          <a:solidFill>
            <a:srgbClr val="FFF1F0"/>
          </a:solidFill>
          <a:ln w="1524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0136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71920"/>
                </a:solidFill>
              </a:rPr>
              <a:t>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Visibilidade de custos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075688"/>
            <a:ext cx="2194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granular por área, workload e tipo de uso.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1709928"/>
            <a:ext cx="475488" cy="475488"/>
          </a:xfrm>
          <a:prstGeom prst="ellipse">
            <a:avLst/>
          </a:prstGeom>
          <a:solidFill>
            <a:srgbClr val="FFF1F0"/>
          </a:solidFill>
          <a:ln w="15240">
            <a:solidFill>
              <a:srgbClr val="D71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0136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71920"/>
                </a:solidFill>
              </a:rPr>
              <a:t>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Custos mais previsíveis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2075688"/>
            <a:ext cx="2194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capacidade facilita planejamento de workloads recorrentes.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01000" y="150876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02168" y="1709928"/>
            <a:ext cx="475488" cy="475488"/>
          </a:xfrm>
          <a:prstGeom prst="ellipse">
            <a:avLst/>
          </a:prstGeom>
          <a:solidFill>
            <a:srgbClr val="FFF1F0"/>
          </a:solidFill>
          <a:ln w="15240">
            <a:solidFill>
              <a:srgbClr val="D719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80136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71920"/>
                </a:solidFill>
              </a:rPr>
              <a:t>🏷️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Segmentação por área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78240" y="2075688"/>
            <a:ext cx="2194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Ambientes controlados com autonomia e isolamento.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370332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89888" y="3904488"/>
            <a:ext cx="475488" cy="475488"/>
          </a:xfrm>
          <a:prstGeom prst="ellipse">
            <a:avLst/>
          </a:prstGeom>
          <a:solidFill>
            <a:srgbClr val="FFF1F0"/>
          </a:solidFill>
          <a:ln w="15240">
            <a:solidFill>
              <a:srgbClr val="D71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99592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71920"/>
                </a:solidFill>
              </a:rPr>
              <a:t>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65960" y="3931920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automáticos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965960" y="4270248"/>
            <a:ext cx="3611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Limpeza e controles para reduzir desperdício operacional.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370332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01968" y="3904488"/>
            <a:ext cx="475488" cy="475488"/>
          </a:xfrm>
          <a:prstGeom prst="ellipse">
            <a:avLst/>
          </a:prstGeom>
          <a:solidFill>
            <a:srgbClr val="FFF1F0"/>
          </a:solidFill>
          <a:ln w="15240">
            <a:solidFill>
              <a:srgbClr val="D719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99592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71920"/>
                </a:solidFill>
              </a:rPr>
              <a:t>🚀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78040" y="3931920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Novos canais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78040" y="4270248"/>
            <a:ext cx="3611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preparada para Power BI, Excel, Teams e Genie One.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236208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ganho inicial não é só técnico: é de governança, visibilidade e modelo operacional.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visão simplificada da arquitetura em evolução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Federação como ponte arquitetural, com consumo ampliado e governança progressiva.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4760" y="132588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0" y="1481328"/>
            <a:ext cx="4114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| Sistemas | Arquivos | APIs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965960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228600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2441448"/>
            <a:ext cx="4114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 / GCS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ativos existentes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89320" y="2926080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324612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FFF1F0"/>
          </a:solidFill>
          <a:ln w="12700">
            <a:solidFill>
              <a:srgbClr val="F0B8B8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3401568"/>
            <a:ext cx="4114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Catalog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catálogo, políticas e lineage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3886200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94760" y="420624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4361688"/>
            <a:ext cx="4114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Databricks Lakehouse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SQL, IA, ML, pipelines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54864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605272"/>
            <a:ext cx="12801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5166360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71800" y="54864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5605272"/>
            <a:ext cx="12801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5166360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54864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5605272"/>
            <a:ext cx="12801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5166360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86600" y="54864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5605272"/>
            <a:ext cx="12801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Genie One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5166360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44000" y="54864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5605272"/>
            <a:ext cx="12801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5166360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22960" y="512064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6236208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desenho permite evoluir sem exigir uma migração imediata de todos os dados e pipelines.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Critérios para evolução da arquitetura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Decisões orientadas por valor, risco e sustentabilidade operacional.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no negócio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536192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Melhora a experiência ou a velocidade?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Esforço de migração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1536192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Quanto precisa ser alterado?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42032"/>
            <a:ext cx="1783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total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542032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Infraestrutura + operação + suporte.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42032"/>
            <a:ext cx="1783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542032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Clareza, controle e rastreabilidade.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47872"/>
            <a:ext cx="1783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Experiência do usuário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547872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 descoberta e consumo?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42900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547872"/>
            <a:ext cx="1783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Sustentabilidade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3547872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time consegue manter bem?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43484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EEF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553712"/>
            <a:ext cx="1783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Reversibilidade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4553712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Dá para rever sem alto custo?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236208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não será por preferência de tecnologia, mas pelo equilíbrio entre valor, risco e esforço operacional.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crítica: ingestão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Preservar, migrar ou evoluir gradualmente?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Opção A — manter ingestão no GCP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139696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impacto imediato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532888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523744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 pipelines estabilizados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2916936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07792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Reduz risco de migração ampla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300984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Acelera adoção gradual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3840480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Pontos de atenção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4480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Operação distribuída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4389120"/>
            <a:ext cx="4480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Integração contínua entre plataformas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4617720"/>
            <a:ext cx="4480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Lineage e observabilidade fragmentados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1F0"/>
          </a:solidFill>
          <a:ln w="12700">
            <a:solidFill>
              <a:srgbClr val="F4B5B5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Opção B — novas ingestões no Databricks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2139696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Padroniza novos workloads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37960" y="2532888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523744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Aproxima ingestão, transformação e consumo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2916936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2907792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Melhora lineage ponta a ponta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37960" y="3300984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3291840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Reduz expansão de componentes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37960" y="3840480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Pontos de atenção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4160520"/>
            <a:ext cx="4480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Exige padrões e capacitação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4389120"/>
            <a:ext cx="4480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Conectores podem precisar de redesenho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37960" y="4617720"/>
            <a:ext cx="4480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Requer critério de priorização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" y="5212080"/>
            <a:ext cx="10058400" cy="594360"/>
          </a:xfrm>
          <a:prstGeom prst="roundRect">
            <a:avLst>
              <a:gd name="adj" fmla="val 12308"/>
            </a:avLst>
          </a:prstGeom>
          <a:solidFill>
            <a:srgbClr val="EEF8F0"/>
          </a:solidFill>
          <a:ln w="12700">
            <a:solidFill>
              <a:srgbClr val="BFE8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5394960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Diretriz: preservar pipelines estáveis e priorizar Databricks para novas ingestões quando houver ganho claro de simplicidade, governança ou custo.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Federação: acelerador de transição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Excelente para acelerar a jornada — mas precisa de critérios para não virar arquitetura permanente por inércia.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84832" y="2057400"/>
            <a:ext cx="640080" cy="640080"/>
          </a:xfrm>
          <a:prstGeom prst="ellipse">
            <a:avLst/>
          </a:prstGeom>
          <a:solidFill>
            <a:srgbClr val="0B7A3B"/>
          </a:solidFill>
          <a:ln w="12700">
            <a:solidFill>
              <a:srgbClr val="0B7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880360"/>
            <a:ext cx="2697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Exploração e transição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310128"/>
            <a:ext cx="2514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Consumir dados sem migração imediata.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82880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33872" y="20574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880360"/>
            <a:ext cx="2697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Workloads recorrentes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3310128"/>
            <a:ext cx="2514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custo, performance e recorrência.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182880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82912" y="2057400"/>
            <a:ext cx="640080" cy="64008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880360"/>
            <a:ext cx="2697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Crítico / alto volume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3310128"/>
            <a:ext cx="2514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Materializar ou migrar quando fizer sentido.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800600"/>
            <a:ext cx="10332720" cy="658368"/>
          </a:xfrm>
          <a:prstGeom prst="roundRect">
            <a:avLst>
              <a:gd name="adj" fmla="val 11111"/>
            </a:avLst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992624"/>
            <a:ext cx="9875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sugerido: manter federado, materializar ou migrar conforme volume, criticidade, custo, desempenho e necessidade de lineage.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crítica: governança de dados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Integração entre plataformas ou centralização progressiva?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Dataplex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Vantagens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450592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Integração natural com ativos GCP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770632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Aproveita metadados e processos atuais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108960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090672"/>
            <a:ext cx="4297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Continuidade para BigQuery e GCS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3611880"/>
            <a:ext cx="2286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Pontos de atenção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931920"/>
            <a:ext cx="4389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Não governa integralmente objetos nativos DBx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4389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Pode duplicar responsabilidades com Unity Catalog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4480560"/>
            <a:ext cx="4389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Lineage e catálogo podem ficar divididos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FF1F0"/>
          </a:solidFill>
          <a:ln w="12700">
            <a:solidFill>
              <a:srgbClr val="F4B5B5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Catalog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Vantagens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468880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450592"/>
            <a:ext cx="4389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nativa para dados, funções, modelos e 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37960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2770632"/>
            <a:ext cx="4389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Permissões, auditoria e lineage integrados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3108960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3090672"/>
            <a:ext cx="4389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Proximidade entre governança e execução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3611880"/>
            <a:ext cx="2286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Pontos de atenção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931920"/>
            <a:ext cx="4389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Exige migração ou sincronização de metadados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4206240"/>
            <a:ext cx="4389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Ativos no GCP ainda precisam de integração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4480560"/>
            <a:ext cx="4389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Não substitui automaticamente processos corporativos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6236208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Diretriz: Unity Catalog para ativos consumidos/produzidos no Databricks, integrado ao Dataplex enquanto houver ativos relevantes no GCP.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crítica: tags e metadados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Evitar duplicidade, preservar contexto e definir fonte oficial para cada tipo de informação.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103327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755648"/>
            <a:ext cx="1005840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metadado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43400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 recomendada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828800"/>
            <a:ext cx="3200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Racional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Técnico de origem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2450592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de origem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450592"/>
            <a:ext cx="3200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perder contexto operacional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2834640"/>
            <a:ext cx="1005840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072384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Negócio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3072384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corporativo / fonte mestre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3072384"/>
            <a:ext cx="3200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Garante vocabulário comum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51560" y="3456432"/>
            <a:ext cx="1005840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694176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Operacional do Databricks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3694176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Catalog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3694176"/>
            <a:ext cx="3200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Apoia policies, discovery e lineage no consumo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1560" y="4078224"/>
            <a:ext cx="1005840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5212080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EEF8F0"/>
          </a:solidFill>
          <a:ln w="12700">
            <a:solidFill>
              <a:srgbClr val="BFE8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5376672"/>
            <a:ext cx="9555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não copiar todos os metadados, mas definir onde cada tipo de informação deve nascer, ser mantida e ser consumida.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crítica: gestão de acessos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Onde a política deve ser aplicada para simplificar consumo sem abrir mão da segurança?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132588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527048"/>
            <a:ext cx="4480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ID / Grupos Corporativos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920240"/>
            <a:ext cx="0" cy="4114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0" y="237744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FF1F0"/>
          </a:solidFill>
          <a:ln w="12700">
            <a:solidFill>
              <a:srgbClr val="F4B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578608"/>
            <a:ext cx="4480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Catalog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0760" y="2971800"/>
            <a:ext cx="0" cy="4114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342900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630168"/>
            <a:ext cx="4480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Políticas de consumo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4023360"/>
            <a:ext cx="0" cy="4114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448056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4681728"/>
            <a:ext cx="4480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 / GCS — acesso técnico controlado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173736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1965960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Manter acesso na origem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1874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Respeita modelo atual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2926080"/>
            <a:ext cx="1874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Menor risco inicial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1874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Mais troubleshooting entre plataformas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280" y="173736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1965960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Controlar no UC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2468880"/>
            <a:ext cx="1874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Segurança próxima ao consumo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26880" y="2926080"/>
            <a:ext cx="1874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Auditoria simplificada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26880" y="3383280"/>
            <a:ext cx="1874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Depende de credenciais na origem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236208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Diretriz: grupos corporativos como base de identidade; políticas de consumo no Unity Catalog.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principal lacuna está na jornada de acesso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Dataplex e Unity Catalog controlam permissões, mas a experiência corporativa de solicitação e aprovação precisa ser desenhada.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39112"/>
            <a:ext cx="1143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Descobrir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2212848"/>
            <a:ext cx="457200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7830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2039112"/>
            <a:ext cx="1143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regras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6200" y="2212848"/>
            <a:ext cx="457200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17830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039112"/>
            <a:ext cx="1143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2212848"/>
            <a:ext cx="457200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3640" y="17830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039112"/>
            <a:ext cx="1143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2212848"/>
            <a:ext cx="457200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38160" y="17830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2039112"/>
            <a:ext cx="1143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09760" y="2212848"/>
            <a:ext cx="457200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12680" y="17830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04120" y="2039112"/>
            <a:ext cx="1143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 expirar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3703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EEF8F0"/>
          </a:solidFill>
          <a:ln w="12700">
            <a:solidFill>
              <a:srgbClr val="BFE8C7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3913632"/>
            <a:ext cx="4572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7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 externo integrado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4315968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ServiceNow, Data.World, SailPoint ou solução corporativa para aprovações, auditoria e ciclo de vida.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3703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EEF5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D9DEE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3913632"/>
            <a:ext cx="4572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 nativo ou automatizado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4315968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rápido para começar, mas pode gerar experiência fragmentada e customização difícil de manter.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236208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Recomendação: políticas no Unity Catalog; solicitação e aprovação em camada corporativa integrada.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Evoluir com segurança, sem decisões irreversíveis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Preservar o que funciona, acelerar o presente e construir o futuro com critérios objetivos.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749808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658368" cy="65836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066544"/>
            <a:ext cx="3200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143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 e federação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18488" y="2194560"/>
            <a:ext cx="194767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03320" y="1874520"/>
            <a:ext cx="658368" cy="65836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2066544"/>
            <a:ext cx="3200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697480"/>
            <a:ext cx="1143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e acessos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53128" y="2194560"/>
            <a:ext cx="194767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37960" y="1874520"/>
            <a:ext cx="658368" cy="65836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2066544"/>
            <a:ext cx="3200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697480"/>
            <a:ext cx="1143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Novos pipelines no padrão-alvo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87768" y="2194560"/>
            <a:ext cx="194767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1874520"/>
            <a:ext cx="658368" cy="65836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7192" y="2066544"/>
            <a:ext cx="3200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2697480"/>
            <a:ext cx="1143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Migração seletiva de workloads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9776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3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Recomendações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526280"/>
            <a:ext cx="9966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federação para acelerar a adoção · Preservar pipelines estáveis · Definir Databricks como padrão preferencial para novos workloads · Integrar metadados críticos · Evoluir acessos com solução corporativa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02920" y="6236208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precisamos escolher entre preservar o que funciona e evoluir a plataforma.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Evolução da Plataforma de Dados</dc:title>
  <dc:subject>Evolução da plataforma de dados</dc:subject>
  <dc:creator>OpenAI</dc:creator>
  <cp:lastModifiedBy>OpenAI</cp:lastModifiedBy>
  <cp:revision>1</cp:revision>
  <dcterms:created xsi:type="dcterms:W3CDTF">2026-07-15T00:39:23Z</dcterms:created>
  <dcterms:modified xsi:type="dcterms:W3CDTF">2026-07-15T00:39:23Z</dcterms:modified>
</cp:coreProperties>
</file>